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44801F-0A13-47B5-B9CC-4853EF9F1580}">
  <a:tblStyle styleId="{6344801F-0A13-47B5-B9CC-4853EF9F15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ABERTURA — nome, orientador (Prof. Marlon), tema.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Pitch (1 frase): testar se LLMs servem pra gerar base de treino JÁ ROTULADA pra análise de sentimento em pt-BR — e se funciona em reviews reais.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Respirar, olhar a banca, não correr.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Roteiro da fala: Contexto → Método → Resultados → Conclusão.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Só situar a banca; NÃO ler item por item.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Análise de sentimento = classificar opinião em positiva / negativa / neutra.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Treinar exige base rotulada: cara e lenta; pt-BR tem pouco.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Ideia: o LLM gera o dado JÁ rotulado.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Pergunta central (pipeline): gera → treina → testa no REAL → funciona?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Geral: avaliar a viabilidade prática de treinar com dados sintéticos.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perguntas: (1) assertividade do sintético; (2) coerência ENTRE os LLMs; (3) cross-domain = treino sintético, teste real.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3ª (cross-domain) é a estrela — foi sugestão do Marlon.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importa: anotação humana é cara/lenta; pt-BR escasso.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LLM rotula sem anotação manual.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3 LLMs reduzem viés de fonte única.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 nichos + cross-domain mostram ONDE funciona.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teórica: análise de sentimento = classificação supervisionada (Pang, 2002).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Clássicos: TF-IDF + NB / LR / SVM.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Neurais: LSTM e BERTimbau (BERT pré-treinado em pt-BR).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Métrica: F1-macro (justo com classes desbalanceadas).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usei: 3 LLMs geradores, 5 classificadores, 2 datasets reais (UTLC-Movies/Apps, via kagglehub).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Stack: Python, scikit-learn, PyTorch, HuggingFace. Neurais rodaram no Colab (GPU T4).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NÚMERO-CHAVE: 200 frases POR LLM por classe → 3 LLMs = 600/classe → 1.800/nicho.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 nichos (filmes/séries e apps).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Real: ~100k reviews/nicho; nota 1-5 → 3 classes (≥4 pos, ≤2 neg, =3 neu).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Pipeline: geração → pré-proc (TF-IDF) → treino → avaliação.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ISOMORFO: mesmo pros 3 LLMs, só muda a classe (comparação justa).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Pede 200 frases, máx. 30 palavras, saída em CSV.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CSV: frase | classe | fonte (qual LLM gerou).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LEMBRAR: o '200' é POR LLM → 3×200 = 600 por classe.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216000" y="812520"/>
            <a:ext cx="7126200" cy="4007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756000" y="5078520"/>
            <a:ext cx="6046560" cy="480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Estilo de geração (comprimento): ChatGPT ~50 (curto/regular); Claude ~95 em filmes (longo); Gemini ~60.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Em apps (texto técnico) os 3 se aproximam.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importa: frase longa/elaborada se afasta da review real → ajuda a explicar o gap e a diferença entre nichos.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visões = FONTE do treino (sint/real) × TESTE (controlado/natural).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V1 = baseline sintético; V5 = cross-domain realista (a que importa).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Pares: V2 vs V3 e V4 vs V5 isolam a fonte; V1 vs V5 = reality gap.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Métrica principal: F1-macro.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V1 (sint→sint) = 97% com BERTimbau — sintético é ótimo 'em casa'.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(V2/V4) = 60-67% — patamar normal da tarefa.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ARMADILHA: 97% NÃO significa sucesso; é só dentro do mundo sintético.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V5 (sint→real natural) DESPENCA: 43% filmes / 56% apps → inviável pra uso prático.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Matriz (V3-SVM): a classe Neutra é a mais sacrificada.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Mensagem: o modelo treinado em sintético NÃO generaliza pro real.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cai: frase sintética é limpa e direta; review real tem gíria, erro, ironia.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Exemplos reais: 'PQP q filme', 'interesante', 'mais' (em vez de mas).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 = diferença de DISTRIBUIÇÃO entre os textos.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5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de volume: triplicar o sintético (600 → 1.800 no nicho) NÃO fecha o gap em V3.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Logo: limitação é ESTRUTURAL, não falta de dados (argumento central!).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Apps &gt; filmes no desbalanceado (vocabulário mais objetivo).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Reduzido = 600/nicho; Completo = 1.800/nicho. Redução = amostra aleatória por classe (seed 42).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7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ATENDIDO: avaliamos a viabilidade.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97% no sintético, MAS 43-56% no cross-domain real → inviável pra produção.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Limitação é estrutural (distribuição), não falta de dados.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Geração manual: ~3-4h por nicho (interface web).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BERT estourou a RAM do Colab → subamostra estratificada de 100k (distribuição preservada).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Paradoxo: calibrar o sintético exige dado real.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TF-IDF não pega negação/ironia → por isso testei LSTM e BERT.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Adaptação de domínio (pouco real + muito sintético).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Outros nichos; prompts mais elaborados.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Gerar via API (controle de temperatura) e mais LLMs.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Citar de passagem; não ler.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Principais: Pang 2002 (base); Souza 2022 (sentimento pt-BR); Li 2023 / Hellwig 2025 (LLM gerando dado sintético).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:notes"/>
          <p:cNvSpPr/>
          <p:nvPr>
            <p:ph idx="2" type="sldImg"/>
          </p:nvPr>
        </p:nvSpPr>
        <p:spPr>
          <a:xfrm>
            <a:off x="685800" y="1143000"/>
            <a:ext cx="5484240" cy="3084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1:notes"/>
          <p:cNvSpPr txBox="1"/>
          <p:nvPr>
            <p:ph idx="1"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Agradecer e abrir pra perguntas.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pt-BR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Mensagem final (1 frase): dado sintético de LLM serve pra protótipo/pesquisa, mas ainda NÃO substitui dado real em produção.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:notes"/>
          <p:cNvSpPr txBox="1"/>
          <p:nvPr>
            <p:ph idx="12" type="sldNum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1523880" y="1671120"/>
            <a:ext cx="9141840" cy="238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title"/>
          </p:nvPr>
        </p:nvSpPr>
        <p:spPr>
          <a:xfrm>
            <a:off x="540000" y="365040"/>
            <a:ext cx="11118240" cy="13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40000" y="1825560"/>
            <a:ext cx="11118240" cy="434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type="title"/>
          </p:nvPr>
        </p:nvSpPr>
        <p:spPr>
          <a:xfrm>
            <a:off x="540000" y="365040"/>
            <a:ext cx="11118240" cy="13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540000" y="1825560"/>
            <a:ext cx="5477760" cy="434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4"/>
          <p:cNvSpPr txBox="1"/>
          <p:nvPr>
            <p:ph idx="2" type="body"/>
          </p:nvPr>
        </p:nvSpPr>
        <p:spPr>
          <a:xfrm>
            <a:off x="6172200" y="1825560"/>
            <a:ext cx="5486040" cy="434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>
            <p:ph type="title"/>
          </p:nvPr>
        </p:nvSpPr>
        <p:spPr>
          <a:xfrm>
            <a:off x="540000" y="365040"/>
            <a:ext cx="11118240" cy="13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540000" y="1681200"/>
            <a:ext cx="5455440" cy="821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540000" y="2505240"/>
            <a:ext cx="5455440" cy="3682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5"/>
          <p:cNvSpPr txBox="1"/>
          <p:nvPr>
            <p:ph idx="3" type="body"/>
          </p:nvPr>
        </p:nvSpPr>
        <p:spPr>
          <a:xfrm>
            <a:off x="6172200" y="1681200"/>
            <a:ext cx="5486040" cy="821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5"/>
          <p:cNvSpPr txBox="1"/>
          <p:nvPr>
            <p:ph idx="4" type="body"/>
          </p:nvPr>
        </p:nvSpPr>
        <p:spPr>
          <a:xfrm>
            <a:off x="6172200" y="2505240"/>
            <a:ext cx="5486040" cy="3682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title"/>
          </p:nvPr>
        </p:nvSpPr>
        <p:spPr>
          <a:xfrm>
            <a:off x="540000" y="365040"/>
            <a:ext cx="11118240" cy="13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>
  <p:cSld name="Em branco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>
  <p:cSld name="Conteúdo com Legenda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8"/>
          <p:cNvSpPr txBox="1"/>
          <p:nvPr>
            <p:ph idx="1"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04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04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8"/>
          <p:cNvSpPr txBox="1"/>
          <p:nvPr>
            <p:ph idx="2"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>
  <p:cSld name="Imagem com Legenda">
    <p:bg>
      <p:bgPr>
        <a:gradFill>
          <a:gsLst>
            <a:gs pos="0">
              <a:srgbClr val="D2D3D5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0" y="6266520"/>
            <a:ext cx="12189960" cy="54252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960" y="6287040"/>
            <a:ext cx="94644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curso-fundo-preto"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60" y="6176160"/>
            <a:ext cx="95148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9"/>
          <p:cNvSpPr txBox="1"/>
          <p:nvPr>
            <p:ph idx="1"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04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04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9"/>
          <p:cNvSpPr txBox="1"/>
          <p:nvPr>
            <p:ph idx="2"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9"/>
          <p:cNvSpPr txBox="1"/>
          <p:nvPr>
            <p:ph idx="10" type="dt"/>
          </p:nvPr>
        </p:nvSpPr>
        <p:spPr>
          <a:xfrm>
            <a:off x="2153520" y="6356520"/>
            <a:ext cx="107100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9"/>
          <p:cNvSpPr txBox="1"/>
          <p:nvPr>
            <p:ph idx="11" type="ftr"/>
          </p:nvPr>
        </p:nvSpPr>
        <p:spPr>
          <a:xfrm>
            <a:off x="3706200" y="6357600"/>
            <a:ext cx="4774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9"/>
          <p:cNvSpPr txBox="1"/>
          <p:nvPr>
            <p:ph idx="12" type="sldNum"/>
          </p:nvPr>
        </p:nvSpPr>
        <p:spPr>
          <a:xfrm>
            <a:off x="8960400" y="6357600"/>
            <a:ext cx="10778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800"/>
              <a:buFont typeface="Arial"/>
              <a:buNone/>
              <a:defRPr b="0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1523880" y="1671120"/>
            <a:ext cx="9141840" cy="238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2800"/>
              <a:buFont typeface="Calibri"/>
              <a:buNone/>
            </a:pPr>
            <a:r>
              <a:rPr b="1" lang="pt-BR" sz="28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Utilização de LLMs para Geração de Bases de Treinamento em Classificação de Sentimento: Uma Análise de Viabilidade Prática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>
            <p:ph idx="1" type="subTitle"/>
          </p:nvPr>
        </p:nvSpPr>
        <p:spPr>
          <a:xfrm>
            <a:off x="1523880" y="4178160"/>
            <a:ext cx="9141840" cy="1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Conclusão de Curso 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Discente: Davi Romauski Meurer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Orientador: Prof. Marlon Marcon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1523880" y="332640"/>
            <a:ext cx="9141840" cy="1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Universidade Tecnológica Federal do Paraná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pt-BR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Câmpus Dois Vizinhos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pt-BR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Bacharelado em Engenharia de Software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540000" y="1371600"/>
            <a:ext cx="11118240" cy="365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Justificativa;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Referencial Teórico;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Materiais e Métodos;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502920" y="5257800"/>
            <a:ext cx="2970360" cy="73008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 · objetivos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3044880" y="5257800"/>
            <a:ext cx="2970360" cy="73008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visões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5586840" y="5257800"/>
            <a:ext cx="2970360" cy="73008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sintético × real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8129160" y="5257800"/>
            <a:ext cx="2970360" cy="73008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viabilidade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540000" y="2606040"/>
            <a:ext cx="11118240" cy="351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de sentimento: classificar opiniões em positiva, negativa ou neutra.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Treinar modelos exige datasets rotulados — caros e demorados de construir.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português brasileiro, faltam recursos anotados.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 podem gerar esses dados já rotulados — mas funcionam no mundo real?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1800000" y="1440000"/>
            <a:ext cx="2970000" cy="86688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com LLM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frases rotuladas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4341960" y="1440000"/>
            <a:ext cx="2970000" cy="86688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classificador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6883920" y="1440000"/>
            <a:ext cx="2970000" cy="86688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reviews reais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540000" y="1508760"/>
            <a:ext cx="11118240" cy="342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9999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geral: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Avaliar a viabilidade prática de treinar classificadores de sentimento com dados sintéticos de LLMs.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Medir a assertividade com treino apenas sintético.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a coerência entre os LLMs geradores.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Avaliar o cross-domain: treino sintético, teste real.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dois nichos com subjetividade diferente.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50292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Assertividade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treino sintético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304488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Coerência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 LLMs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58684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Cross-domain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sintético → real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812916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nichos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subjetividade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Justificativa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540000" y="1508760"/>
            <a:ext cx="11118240" cy="255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Datasets rotulados são caros, e o português tem poucos recursos.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 geram texto rotulado sem anotação humana.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Três LLMs reduzem o viés de uma fonte única.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 nichos e o cross-domain revelam onde a abordagem funciona.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40080" y="4206240"/>
            <a:ext cx="5119200" cy="173592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Anotação humana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cara, lenta e escassa em português</a:t>
            </a:r>
            <a:endParaRPr b="0" sz="10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446520" y="4206240"/>
            <a:ext cx="5119200" cy="173592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LLMs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geram texto já rotulado, sem anotação manual</a:t>
            </a:r>
            <a:endParaRPr b="0" sz="10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Referencial Teórico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540000" y="1508760"/>
            <a:ext cx="11118240" cy="342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de sentimento = classificação supervisionada de texto (Pang, 2002).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TF-IDF com classificadores clássicos: Naive Bayes, Regressão Logística e SVM.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 neurais: LSTM e BERTimbau (BERT pré-treinado em português).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por LLMs: área de pesquisa recente.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 principal: F1-macro, justo com classes desbalanceadas.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50292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TF-IDF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clássicos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304488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neural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558684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BERTimbau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pré-treino pt-BR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812916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Materiais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540000" y="1508760"/>
            <a:ext cx="11118240" cy="292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 geradores: ChatGPT, Gemini e Claude.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Classificadores: Naive Bayes, Reg. Logística, SVM, LSTM e BERTimbau.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Stack: Python, scikit-learn, PyTorch e Hugging Face Transformers.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 reais: UTLC-Movies e UTLC-Apps (Kaggle), via kagglehub.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 dos modelos neurais em Google Colab (GPU NVIDIA T4).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20480" y="4617720"/>
            <a:ext cx="3564720" cy="132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3 LLMs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ChatGPT · Gemini · Claude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4306680" y="4617720"/>
            <a:ext cx="3564720" cy="132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5 classificadores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NB · LR · SVM · LSTM · BERT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8192880" y="4617720"/>
            <a:ext cx="3564720" cy="132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2 nichos reais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UTLC-Movies · UTLC-Apps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Métodos (1/4): Geração e Dados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1078920" y="2788920"/>
            <a:ext cx="10239120" cy="274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Geração: 3 LLMs produziram 1.800 frases sintéticas por nicho (3 × 3 classes × 200).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 nichos: filmes e séries e aplicativos móveis, com prompts isomorfos.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 reais (cross-domain): UTLC-Movies e UTLC-Apps, ~100 mil reviews/nicho; nota 1–5 mapeada para as 3 classes.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02920" y="1508760"/>
            <a:ext cx="2969640" cy="91224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Geração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LLMs · 1.800 frases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3044880" y="1508760"/>
            <a:ext cx="2969640" cy="91224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Pré-proc.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limpeza · TF-IDF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586840" y="1508760"/>
            <a:ext cx="2969640" cy="91224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Treino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classificadores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129160" y="1508760"/>
            <a:ext cx="2969640" cy="91224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Avaliação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visões · F1-macro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Métodos (2/4): Prompts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1078920" y="1463040"/>
            <a:ext cx="1005732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isomorfo — mesmo para ChatGPT, Gemini e Claude (só muda a classe)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1" name="Google Shape;181;p18"/>
          <p:cNvGraphicFramePr/>
          <p:nvPr/>
        </p:nvGraphicFramePr>
        <p:xfrm>
          <a:off x="1078920" y="181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{6344801F-0A13-47B5-B9CC-4853EF9F1580}</a:tableStyleId>
              </a:tblPr>
              <a:tblGrid>
                <a:gridCol w="1554125"/>
                <a:gridCol w="8503925"/>
              </a:tblGrid>
              <a:tr h="36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Classe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Prompt enviado (resumo)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</a:tr>
              <a:tr h="36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Positiva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Escreva 200 frases positivas avaliando filmes e séries — elogios/satisfação. Máx. 30 palavras; saída em CSV.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Negativa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Escreva 200 frases negativas avaliando filmes e séries — críticas/insatisfação. Máx. 30 palavras; saída em CSV.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36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Neutra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Escreva 200 frases neutras sobre filmes e séries — informações objetivas, sem opinião. Máx. 30 palavras; saída em CSV.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8"/>
          <p:cNvSpPr/>
          <p:nvPr/>
        </p:nvSpPr>
        <p:spPr>
          <a:xfrm>
            <a:off x="1078920" y="3886200"/>
            <a:ext cx="1005732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do CSV gerado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p18"/>
          <p:cNvGraphicFramePr/>
          <p:nvPr/>
        </p:nvGraphicFramePr>
        <p:xfrm>
          <a:off x="1078920" y="42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{6344801F-0A13-47B5-B9CC-4853EF9F1580}</a:tableStyleId>
              </a:tblPr>
              <a:tblGrid>
                <a:gridCol w="6766200"/>
                <a:gridCol w="1645925"/>
                <a:gridCol w="1645925"/>
              </a:tblGrid>
              <a:tr h="36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frase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classe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fonte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</a:tr>
              <a:tr h="36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Este filme toca a alma de uma forma muito especial.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Positiva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Diálogos cheios de frases de efeito forçadas que ninguém diria na vida real.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Negativa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36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produção executiva gerencia o orçamento e cronograma das filmagens.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Neutra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ChatGPT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200" marB="25200" marR="75600" marL="75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1078920" y="365760"/>
            <a:ext cx="1005732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Métodos (3/4): Estilo de Cada LLM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1078920" y="1417320"/>
            <a:ext cx="102402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 LLM tem um padrão de comprimento próprio — ChatGPT mais curto (~50), Gemini no meio (~60) e Claude o mais longo (~95 em filmes).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estilo também muda por nicho: em apps, mais técnicos e diretos, os três geradores se aproximam.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02920" y="841320"/>
            <a:ext cx="383040" cy="38304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rimento_frases_por_llm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9560" y="2606040"/>
            <a:ext cx="9691560" cy="344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Métodos (4/4): Avaliação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1078920" y="1463040"/>
            <a:ext cx="10239120" cy="123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Pré-processamento: minúsculas, remoção de pontuação e deduplicação.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Vetorização TF-IDF (clássicos) e tokenizer próprio (LSTM/BERTimbau).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Cinco classificadores, semente fixa (42), split 80/20 estratificado.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1" name="Google Shape;201;p20"/>
          <p:cNvGraphicFramePr/>
          <p:nvPr/>
        </p:nvGraphicFramePr>
        <p:xfrm>
          <a:off x="1691640" y="307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{6344801F-0A13-47B5-B9CC-4853EF9F1580}</a:tableStyleId>
              </a:tblPr>
              <a:tblGrid>
                <a:gridCol w="1279800"/>
                <a:gridCol w="2496250"/>
                <a:gridCol w="2496250"/>
                <a:gridCol w="249625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Visão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Treino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Sintético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Sintético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Controlado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Controlado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Sintético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Controlado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Desbalanceado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V5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Sintético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Desbalanceado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600" marB="12600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0"/>
          <p:cNvSpPr/>
          <p:nvPr/>
        </p:nvSpPr>
        <p:spPr>
          <a:xfrm>
            <a:off x="1800000" y="2805120"/>
            <a:ext cx="8458200" cy="39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 visão cruza a fonte do treino (sintético ou real) com o tipo de teste (controlado ou real natural). A V5 é o cenário de uso real.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502920" y="517320"/>
            <a:ext cx="383040" cy="38304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>
            <p:ph type="title"/>
          </p:nvPr>
        </p:nvSpPr>
        <p:spPr>
          <a:xfrm>
            <a:off x="1078920" y="41760"/>
            <a:ext cx="1062072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Resultados (1/7): Panorama Movies × Apps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1078920" y="959040"/>
            <a:ext cx="10332000" cy="71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sintético (V1) os nichos empatam (~97%, BERTimbau). Com dado real, Apps iguala ou supera Movies; no cross-domain desbalanceado (V5) a diferença é máxima: BERTimbau 56% (apps) vs 43% (filmes) — os 43% e 56% que definem a inviabilidade prática.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rativo_nichos_f1macro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3720" y="1576440"/>
            <a:ext cx="7801920" cy="469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Resultados (2/7): Domínio Sintético e Real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1078920" y="1481400"/>
            <a:ext cx="1005624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mundo sintético, a classificação é quase perfeita.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 dados reais, o desempenho fica no esperado para a tarefa.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554480" y="2743200"/>
            <a:ext cx="3838320" cy="2741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97%</a:t>
            </a:r>
            <a:endParaRPr b="0" sz="5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Métrica: </a:t>
            </a: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F1-macro (BERTimbau)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Nicho: </a:t>
            </a: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Movies e Apps (ambos ~97%)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Cenário: </a:t>
            </a: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V1 — treino e teste sintéticos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766560" y="2743200"/>
            <a:ext cx="3838320" cy="2741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62–67%</a:t>
            </a:r>
            <a:endParaRPr b="0" sz="5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Métrica: </a:t>
            </a: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F1-macro (BERTimbau)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Nicho: </a:t>
            </a: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Movies ~62% · Apps ~67%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Cenário:</a:t>
            </a: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V4 — treino e teste reais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1078920" y="365760"/>
            <a:ext cx="1044072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Resultados (3/7): Cross-domain — a Queda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 txBox="1"/>
          <p:nvPr>
            <p:ph idx="1" type="body"/>
          </p:nvPr>
        </p:nvSpPr>
        <p:spPr>
          <a:xfrm>
            <a:off x="1078920" y="1463040"/>
            <a:ext cx="5027040" cy="146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Treino sintético, teste real: o desempenho despenca.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acerta a classe dominante e erra as minoritárias.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Neutra é confundida com Positiva e Negativa.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1078920" y="3108960"/>
            <a:ext cx="2329560" cy="2466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43%</a:t>
            </a:r>
            <a:endParaRPr b="0" sz="5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Filmes e séries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(V5 - Sintético → Real)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657600" y="3108960"/>
            <a:ext cx="2329560" cy="2466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56%</a:t>
            </a:r>
            <a:endParaRPr b="0" sz="5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Aplicativos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3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(V5 - Sintético → Real)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triz_confusao_v3_svm_filmes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1828800"/>
            <a:ext cx="4569840" cy="384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Resultados (4/7): Reality Gap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 txBox="1"/>
          <p:nvPr>
            <p:ph idx="1" type="body"/>
          </p:nvPr>
        </p:nvSpPr>
        <p:spPr>
          <a:xfrm>
            <a:off x="1078920" y="1463040"/>
            <a:ext cx="10056240" cy="6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frase do LLM é limpa e direta; a review real tem gíria, erro e ironia.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0" name="Google Shape;240;p24"/>
          <p:cNvGraphicFramePr/>
          <p:nvPr/>
        </p:nvGraphicFramePr>
        <p:xfrm>
          <a:off x="73152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{6344801F-0A13-47B5-B9CC-4853EF9F1580}</a:tableStyleId>
              </a:tblPr>
              <a:tblGrid>
                <a:gridCol w="1371600"/>
                <a:gridCol w="4663450"/>
                <a:gridCol w="4663450"/>
              </a:tblGrid>
              <a:tr h="86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Sintética (Claude)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(UTLC-Movies)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2332"/>
                    </a:solidFill>
                  </a:tcPr>
                </a:tc>
              </a:tr>
              <a:tr h="86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8C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Positiva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Nunca vi atuações tão intensas e verdadeiras; merece todos os prêmios.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Estou sem xão sem ar sem vida PQP q filme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8C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Negativa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história é completamente previsível; adivinhei o final nos dez primeiros minutos.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Horrivel com péssimas interpretações.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86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8C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filme tem duas horas e quinze minutos e estreou em março.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 bem interesante! mais ainda sim não deixa de ser sessão da tarde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800" marB="37800" marR="75600" marL="7560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Resultados (5/7): Volume e Nichos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 txBox="1"/>
          <p:nvPr>
            <p:ph idx="1" type="body"/>
          </p:nvPr>
        </p:nvSpPr>
        <p:spPr>
          <a:xfrm>
            <a:off x="1078920" y="1417320"/>
            <a:ext cx="10056240" cy="13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Triplicar o volume sintético (600 → 1800 sentenças) não fecha a diferença.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limitação é estrutural (distribuição), não falta de dados.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1.png" id="249" name="Google Shape;2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5160" y="2438640"/>
            <a:ext cx="2604240" cy="166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2.png" id="250" name="Google Shape;25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680" y="2438640"/>
            <a:ext cx="2604240" cy="166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3.png" id="251" name="Google Shape;25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200" y="2438640"/>
            <a:ext cx="2604240" cy="166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4.png" id="252" name="Google Shape;25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5160" y="4176000"/>
            <a:ext cx="2604240" cy="166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5.png" id="253" name="Google Shape;25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2680" y="4176000"/>
            <a:ext cx="2604240" cy="166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genda.png" id="254" name="Google Shape;25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200" y="4176000"/>
            <a:ext cx="2604240" cy="166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/>
          <p:nvPr/>
        </p:nvSpPr>
        <p:spPr>
          <a:xfrm>
            <a:off x="2160000" y="5925960"/>
            <a:ext cx="8098920" cy="3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versão reduzida foi obtida por amostragem aleatória estratificada por classe — sorteada 200 frases de cada classe, com semente fixa = 42  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Conclusão (1/3): Objetivo Atendido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 txBox="1"/>
          <p:nvPr>
            <p:ph idx="1" type="body"/>
          </p:nvPr>
        </p:nvSpPr>
        <p:spPr>
          <a:xfrm>
            <a:off x="540000" y="1508760"/>
            <a:ext cx="11118240" cy="28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objetivo foi atendido: avaliamos a viabilidade de treinar com dados sintéticos de LLMs.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domínio sintético, funciona muito bem (97% de F1-macro).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cross-domain realista, cai para 43% (filmes) e 56% (apps) — inviável para uso prático.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limitação é estrutural (distribuição), não falta de dados.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1060560" y="4526280"/>
            <a:ext cx="4570560" cy="150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97%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2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Sintético (V1, BERTimbau)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6546960" y="4526280"/>
            <a:ext cx="4570560" cy="150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43–56%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20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Cross-domain real (V5)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Conclusão (2/3): Dificuldades e Limitações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7"/>
          <p:cNvSpPr txBox="1"/>
          <p:nvPr>
            <p:ph idx="1" type="body"/>
          </p:nvPr>
        </p:nvSpPr>
        <p:spPr>
          <a:xfrm>
            <a:off x="540000" y="1508760"/>
            <a:ext cx="11118240" cy="292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manual das 1.800 frases pelas interfaces web (~3–4 h por nicho).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 estourou a RAM do Colab com o dataset real inteiro; resolvido com subamostra estratificada de 100 mil (distribuição preservada).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Paradoxo de avaliação: só dá para calibrar o sintético comparando com dado real.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Escopo: dois nichos; o TF-IDF não captura negação e ironia (por isso testamos LSTM e BERT).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420480" y="4617720"/>
            <a:ext cx="3564720" cy="132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Geração manual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~3–4 h por nicho, via interface web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4306680" y="4617720"/>
            <a:ext cx="3564720" cy="132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RAM do Colab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subamostra estratificada de 100 mil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8192880" y="4617720"/>
            <a:ext cx="3564720" cy="132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C23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none" strike="noStrike">
                <a:solidFill>
                  <a:srgbClr val="8C2332"/>
                </a:solidFill>
                <a:latin typeface="Calibri"/>
                <a:ea typeface="Calibri"/>
                <a:cs typeface="Calibri"/>
                <a:sym typeface="Calibri"/>
              </a:rPr>
              <a:t>Paradoxo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50" u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calibrar o sintético exige dado real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Conclusão (3/3): Trabalhos Futuros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540000" y="1508760"/>
            <a:ext cx="11118240" cy="342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Adaptação de domínio: combinar pouco dado real com bastante sintético para fechar o gap.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Testar outros nichos com graus diferentes de subjetividade.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Prompts mais elaborados e refinamento iterativo da geração.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 via API, com controle de temperatura e mais LLMs.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50292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Adaptação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domínio: real + sint.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304488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Outros nichos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subjetividade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558684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refino iterativo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8129160" y="5120640"/>
            <a:ext cx="2970360" cy="821520"/>
          </a:xfrm>
          <a:prstGeom prst="chevron">
            <a:avLst>
              <a:gd fmla="val 50000" name="adj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5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temperatura · + LLMs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>
            <p:ph type="title"/>
          </p:nvPr>
        </p:nvSpPr>
        <p:spPr>
          <a:xfrm>
            <a:off x="1078920" y="365760"/>
            <a:ext cx="1005624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4400"/>
              <a:buFont typeface="Calibri"/>
              <a:buNone/>
            </a:pPr>
            <a:r>
              <a:rPr b="1" lang="pt-BR" sz="44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9"/>
          <p:cNvSpPr txBox="1"/>
          <p:nvPr>
            <p:ph idx="1" type="body"/>
          </p:nvPr>
        </p:nvSpPr>
        <p:spPr>
          <a:xfrm>
            <a:off x="540000" y="1825560"/>
            <a:ext cx="11118240" cy="434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PANG, B.; LEE, L.; VAITHYANATHAN, S. Thumbs up? Sentiment classification using machine learning techniques. EMNLP, 2002.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SOUZA, F.; FILHO, J. A. Sentiment analysis on Brazilian Portuguese user reviews. IEEE LA-CCI, 2022.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ARAÚJO, G.; MELO, T.; FIGUEIREDO, C. M. S. Is ChatGPT an effective solver of sentiment analysis tasks in Portuguese? PROPOR, 2024.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ZHANG, W. et al. Sentiment analysis in the era of large language models: a reality check. NAACL Findings, 2024.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LI, Z. et al. Synthetic data generation with large language models for text classification. EMNLP, 2023.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HELLWIG, N. C.; FEHLE, J.; WOLFF, C. Exploring LLMs for the generation of synthetic training samples for aspect-based sentiment analysis. Expert Systems with Applications, 2025.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502920" y="841320"/>
            <a:ext cx="381960" cy="381960"/>
          </a:xfrm>
          <a:prstGeom prst="roundRect">
            <a:avLst>
              <a:gd fmla="val 16667" name="adj"/>
            </a:avLst>
          </a:prstGeom>
          <a:solidFill>
            <a:srgbClr val="8C233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/>
          <p:nvPr>
            <p:ph type="title"/>
          </p:nvPr>
        </p:nvSpPr>
        <p:spPr>
          <a:xfrm>
            <a:off x="1523880" y="1671120"/>
            <a:ext cx="9141840" cy="238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2929"/>
              </a:buClr>
              <a:buSzPts val="6000"/>
              <a:buFont typeface="Calibri"/>
              <a:buNone/>
            </a:pPr>
            <a:r>
              <a:rPr b="1" lang="pt-BR" sz="6000" u="none" strike="noStrike">
                <a:solidFill>
                  <a:srgbClr val="8E2929"/>
                </a:solidFill>
                <a:latin typeface="Calibri"/>
                <a:ea typeface="Calibri"/>
                <a:cs typeface="Calibri"/>
                <a:sym typeface="Calibri"/>
              </a:rPr>
              <a:t>Obrigado pela atenção!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0"/>
          <p:cNvSpPr txBox="1"/>
          <p:nvPr>
            <p:ph idx="1" type="subTitle"/>
          </p:nvPr>
        </p:nvSpPr>
        <p:spPr>
          <a:xfrm>
            <a:off x="1523880" y="4178160"/>
            <a:ext cx="9141840" cy="1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 Romauski Meurer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davimeurer@alunos.utfpr.edu.br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Orientador: Prof. Marlon Marcon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1523880" y="332640"/>
            <a:ext cx="9141840" cy="1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Universidade Tecnológica Federal do Paraná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pt-BR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Câmpus Dois Vizinhos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pt-BR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Bacharelado em Engenharia de Software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